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280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D45D7"/>
                </a:solidFill>
                <a:latin typeface="Aptos"/>
              </a:defRPr>
            </a:pPr>
            <a:r>
              <a:t>01 / KONSEP BISNIS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3350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11A30"/>
                </a:solidFill>
                <a:latin typeface="Aptos"/>
              </a:defRPr>
            </a:pPr>
            <a:r>
              <a:t>BalasWA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3258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70667D"/>
                </a:solidFill>
                <a:latin typeface="Aptos"/>
              </a:defRPr>
            </a:pPr>
            <a:r>
              <a:t>Layanan berlangganan untuk membantu UMKM membalas pelanggan melalui WhatsApp.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662672"/>
            <a:ext cx="13350240" cy="13716"/>
          </a:xfrm>
          <a:prstGeom prst="rect">
            <a:avLst/>
          </a:prstGeom>
          <a:solidFill>
            <a:srgbClr val="DDD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845552"/>
            <a:ext cx="1188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70667D"/>
                </a:solidFill>
                <a:latin typeface="Aptos"/>
              </a:defRPr>
            </a:pPr>
            <a:r>
              <a:t>BALASWA   /   BUSINESS MODEL CANVAS   /   RANCANGAN BISNIS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0" y="7799831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70667D"/>
                </a:solidFill>
                <a:latin typeface="Aptos"/>
              </a:defRPr>
            </a:pPr>
            <a:r>
              <a:t>01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1005840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800" b="1">
                <a:solidFill>
                  <a:srgbClr val="211A30"/>
                </a:solidFill>
                <a:latin typeface="Aptos"/>
              </a:defRPr>
            </a:pPr>
            <a:r>
              <a:t>Pelanggan bertanya.</a:t>
            </a:r>
          </a:p>
          <a:p>
            <a:pPr>
              <a:spcAft>
                <a:spcPts val="1000"/>
              </a:spcAft>
              <a:defRPr sz="4800" b="1">
                <a:solidFill>
                  <a:srgbClr val="211A30"/>
                </a:solidFill>
                <a:latin typeface="Aptos"/>
              </a:defRPr>
            </a:pPr>
            <a:r>
              <a:t>Usaha tetap melayani.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6636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600" b="0">
                <a:solidFill>
                  <a:srgbClr val="70667D"/>
                </a:solidFill>
                <a:latin typeface="Aptos"/>
              </a:defRPr>
            </a:pPr>
            <a:r>
              <a:t>Balasan berbantuan AI berdasarkan profil usaha, katalog, harga, stok, dan instruksi pemilik.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629400"/>
            <a:ext cx="9875520" cy="594360"/>
          </a:xfrm>
          <a:prstGeom prst="rect">
            <a:avLst/>
          </a:prstGeom>
          <a:solidFill>
            <a:srgbClr val="F5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6784848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6D45D7"/>
                </a:solidFill>
                <a:latin typeface="Aptos"/>
              </a:defRPr>
            </a:pPr>
            <a:r>
              <a:t>Fokus awal: UMKM dengan satu nomor WhatsApp dan katalog sederhana.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280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D45D7"/>
                </a:solidFill>
                <a:latin typeface="Aptos"/>
              </a:defRPr>
            </a:pPr>
            <a:r>
              <a:t>02 / MASALAH &amp; PELUANG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3350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11A30"/>
                </a:solidFill>
                <a:latin typeface="Aptos"/>
              </a:defRPr>
            </a:pPr>
            <a:r>
              <a:t>Chat berulang menyita waktu pemilik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3258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70667D"/>
                </a:solidFill>
                <a:latin typeface="Aptos"/>
              </a:defRPr>
            </a:pPr>
            <a:r>
              <a:t>Hipotesis masalah pelanggan; belum merupakan hasil survei atau klaim dampak terukur.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662672"/>
            <a:ext cx="13350240" cy="13716"/>
          </a:xfrm>
          <a:prstGeom prst="rect">
            <a:avLst/>
          </a:prstGeom>
          <a:solidFill>
            <a:srgbClr val="DDD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845552"/>
            <a:ext cx="1188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70667D"/>
                </a:solidFill>
                <a:latin typeface="Aptos"/>
              </a:defRPr>
            </a:pPr>
            <a:r>
              <a:t>BALASWA   /   BUSINESS MODEL CANVAS   /   RANCANGAN BISNIS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0" y="7799831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70667D"/>
                </a:solidFill>
                <a:latin typeface="Aptos"/>
              </a:defRPr>
            </a:pPr>
            <a:r>
              <a:t>02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2606040"/>
            <a:ext cx="6492240" cy="4206240"/>
          </a:xfrm>
          <a:prstGeom prst="rect">
            <a:avLst/>
          </a:prstGeom>
          <a:solidFill>
            <a:srgbClr val="F5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6217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6D45D7"/>
                </a:solidFill>
                <a:latin typeface="Aptos"/>
              </a:defRPr>
            </a:pPr>
            <a:r>
              <a:t>Situasi yang ingin diselesaikan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37560"/>
            <a:ext cx="6126480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11A30"/>
                </a:solidFill>
                <a:latin typeface="Aptos"/>
              </a:defRPr>
            </a:pPr>
            <a:r>
              <a:t>Pertanyaan harga, stok, lokasi, dan jam buka berulang.</a:t>
            </a:r>
          </a:p>
          <a:p>
            <a:pPr>
              <a:spcAft>
                <a:spcPts val="1000"/>
              </a:spcAft>
              <a:defRPr sz="2200" b="0">
                <a:solidFill>
                  <a:srgbClr val="211A30"/>
                </a:solidFill>
                <a:latin typeface="Aptos"/>
              </a:defRPr>
            </a:pPr>
            <a:r>
              <a:t>Pemilik membagi waktu antara operasional dan chat.</a:t>
            </a:r>
          </a:p>
          <a:p>
            <a:pPr>
              <a:spcAft>
                <a:spcPts val="1000"/>
              </a:spcAft>
              <a:defRPr sz="2200" b="0">
                <a:solidFill>
                  <a:srgbClr val="211A30"/>
                </a:solidFill>
                <a:latin typeface="Aptos"/>
              </a:defRPr>
            </a:pPr>
            <a:r>
              <a:t>Jawaban terlambat saat toko sibuk atau admin tidak tersedia.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788920"/>
            <a:ext cx="5806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6D45D7"/>
                </a:solidFill>
                <a:latin typeface="Aptos"/>
              </a:defRPr>
            </a:pPr>
            <a:r>
              <a:t>Peluang BalasWA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3429000"/>
            <a:ext cx="5715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11A30"/>
                </a:solidFill>
                <a:latin typeface="Aptos"/>
              </a:defRPr>
            </a:pPr>
            <a:r>
              <a:t>Menjawab pertanyaan rutin dari data usaha.</a:t>
            </a:r>
          </a:p>
          <a:p>
            <a:pPr>
              <a:spcAft>
                <a:spcPts val="1000"/>
              </a:spcAft>
              <a:defRPr sz="2200" b="0">
                <a:solidFill>
                  <a:srgbClr val="211A30"/>
                </a:solidFill>
                <a:latin typeface="Aptos"/>
              </a:defRPr>
            </a:pPr>
            <a:r>
              <a:t>Mengurangi pengetikan jawaban yang sama.</a:t>
            </a:r>
          </a:p>
          <a:p>
            <a:pPr>
              <a:spcAft>
                <a:spcPts val="1000"/>
              </a:spcAft>
              <a:defRPr sz="2200" b="0">
                <a:solidFill>
                  <a:srgbClr val="211A30"/>
                </a:solidFill>
                <a:latin typeface="Aptos"/>
              </a:defRPr>
            </a:pPr>
            <a:r>
              <a:t>Membantu layanan awal tanpa mengganti seluruh peran admin.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7086600"/>
            <a:ext cx="1298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70667D"/>
                </a:solidFill>
                <a:latin typeface="Aptos"/>
              </a:defRPr>
            </a:pPr>
            <a:r>
              <a:t>Ukuran keberhasilan: waktu respons, ketepatan jawaban, dan waktu admin yang dihemat.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280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D45D7"/>
                </a:solidFill>
                <a:latin typeface="Aptos"/>
              </a:defRPr>
            </a:pPr>
            <a:r>
              <a:t>03 / NILAI YANG DITAWARKAN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3350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11A30"/>
                </a:solidFill>
                <a:latin typeface="Aptos"/>
              </a:defRPr>
            </a:pPr>
            <a:r>
              <a:t>Bukan sekadar chatbot dengan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3258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70667D"/>
                </a:solidFill>
                <a:latin typeface="Aptos"/>
              </a:defRPr>
            </a:pPr>
            <a:r>
              <a:t>Pemilik menyiapkan fakta usaha; AI membantu merangkai jawaban yang relevan.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662672"/>
            <a:ext cx="13350240" cy="13716"/>
          </a:xfrm>
          <a:prstGeom prst="rect">
            <a:avLst/>
          </a:prstGeom>
          <a:solidFill>
            <a:srgbClr val="DDD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845552"/>
            <a:ext cx="1188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70667D"/>
                </a:solidFill>
                <a:latin typeface="Aptos"/>
              </a:defRPr>
            </a:pPr>
            <a:r>
              <a:t>BALASWA   /   BUSINESS MODEL CANVAS   /   RANCANGAN BISNIS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0" y="7799831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70667D"/>
                </a:solidFill>
                <a:latin typeface="Aptos"/>
              </a:defRPr>
            </a:pPr>
            <a:r>
              <a:t>03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2606040"/>
            <a:ext cx="6492240" cy="4206240"/>
          </a:xfrm>
          <a:prstGeom prst="rect">
            <a:avLst/>
          </a:prstGeom>
          <a:solidFill>
            <a:srgbClr val="F5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6217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6D45D7"/>
                </a:solidFill>
                <a:latin typeface="Aptos"/>
              </a:defRPr>
            </a:pPr>
            <a:r>
              <a:t>Manfaat untuk UMKM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37560"/>
            <a:ext cx="6126480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11A30"/>
                </a:solidFill>
                <a:latin typeface="Aptos"/>
              </a:defRPr>
            </a:pPr>
            <a:r>
              <a:t>Pengaturan lewat web, tanpa terminal.</a:t>
            </a:r>
          </a:p>
          <a:p>
            <a:pPr>
              <a:spcAft>
                <a:spcPts val="1000"/>
              </a:spcAft>
              <a:defRPr sz="2200" b="0">
                <a:solidFill>
                  <a:srgbClr val="211A30"/>
                </a:solidFill>
                <a:latin typeface="Aptos"/>
              </a:defRPr>
            </a:pPr>
            <a:r>
              <a:t>Nomor usaha ditautkan melalui scan QR.</a:t>
            </a:r>
          </a:p>
          <a:p>
            <a:pPr>
              <a:spcAft>
                <a:spcPts val="1000"/>
              </a:spcAft>
              <a:defRPr sz="2200" b="0">
                <a:solidFill>
                  <a:srgbClr val="211A30"/>
                </a:solidFill>
                <a:latin typeface="Aptos"/>
              </a:defRPr>
            </a:pPr>
            <a:r>
              <a:t>Jawaban memakai profil, produk, harga, dan stok yang diisi pemilik.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788920"/>
            <a:ext cx="5806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6D45D7"/>
                </a:solidFill>
                <a:latin typeface="Aptos"/>
              </a:defRPr>
            </a:pPr>
            <a:r>
              <a:t>Batas layanan yang jelas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3429000"/>
            <a:ext cx="5715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11A30"/>
                </a:solidFill>
                <a:latin typeface="Aptos"/>
              </a:defRPr>
            </a:pPr>
            <a:r>
              <a:t>Stok harus diperbarui pemilik; bukan bukti stok fisik secara otomatis.</a:t>
            </a:r>
          </a:p>
          <a:p>
            <a:pPr>
              <a:spcAft>
                <a:spcPts val="1000"/>
              </a:spcAft>
              <a:defRPr sz="2200" b="0">
                <a:solidFill>
                  <a:srgbClr val="211A30"/>
                </a:solidFill>
                <a:latin typeface="Aptos"/>
              </a:defRPr>
            </a:pPr>
            <a:r>
              <a:t>Bot tidak mengonfirmasi pembayaran atau pesanan tanpa integrasi.</a:t>
            </a:r>
          </a:p>
          <a:p>
            <a:pPr>
              <a:spcAft>
                <a:spcPts val="1000"/>
              </a:spcAft>
              <a:defRPr sz="2200" b="0">
                <a:solidFill>
                  <a:srgbClr val="211A30"/>
                </a:solidFill>
                <a:latin typeface="Aptos"/>
              </a:defRPr>
            </a:pPr>
            <a:r>
              <a:t>Kasus rumit tetap membutuhkan admin manusia.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7086600"/>
            <a:ext cx="1298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70667D"/>
                </a:solidFill>
                <a:latin typeface="Aptos"/>
              </a:defRPr>
            </a:pPr>
            <a:r>
              <a:t>Instruksi tambahan mengatur gaya bahasa; fakta bisnis tetap berasal dari data terstruktur.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280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D45D7"/>
                </a:solidFill>
                <a:latin typeface="Aptos"/>
              </a:defRPr>
            </a:pPr>
            <a:r>
              <a:t>04 / PETA MODEL BISNIS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3350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11A30"/>
                </a:solidFill>
                <a:latin typeface="Aptos"/>
              </a:defRPr>
            </a:pPr>
            <a:r>
              <a:t>Business Model Canvas — sembilan komponen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3258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70667D"/>
                </a:solidFill>
                <a:latin typeface="Aptos"/>
              </a:defRPr>
            </a:pPr>
            <a:r>
              <a:t>Ringkasan strategi; mitra, saluran, dan pendapatan merupakan rancangan yang perlu diuji.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662672"/>
            <a:ext cx="13350240" cy="13716"/>
          </a:xfrm>
          <a:prstGeom prst="rect">
            <a:avLst/>
          </a:prstGeom>
          <a:solidFill>
            <a:srgbClr val="DDD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845552"/>
            <a:ext cx="1188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70667D"/>
                </a:solidFill>
                <a:latin typeface="Aptos"/>
              </a:defRPr>
            </a:pPr>
            <a:r>
              <a:t>BALASWA   /   BUSINESS MODEL CANVAS   /   RANCANGAN BISNIS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0" y="7799831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70667D"/>
                </a:solidFill>
                <a:latin typeface="Aptos"/>
              </a:defRPr>
            </a:pPr>
            <a:r>
              <a:t>04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60320"/>
            <a:ext cx="2606040" cy="3383280"/>
          </a:xfrm>
          <a:prstGeom prst="rect">
            <a:avLst/>
          </a:prstGeom>
          <a:solidFill>
            <a:srgbClr val="F5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97479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D45D7"/>
                </a:solidFill>
                <a:latin typeface="Aptos"/>
              </a:defRPr>
            </a:pPr>
            <a:r>
              <a:t>Mitra kunci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54679"/>
            <a:ext cx="23317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11A30"/>
                </a:solidFill>
                <a:latin typeface="Aptos"/>
              </a:defRPr>
            </a:pPr>
            <a:r>
              <a:t>Penyedia AI dan hosting</a:t>
            </a:r>
          </a:p>
          <a:p>
            <a:pPr>
              <a:spcAft>
                <a:spcPts val="1000"/>
              </a:spcAft>
              <a:defRPr sz="1500" b="0">
                <a:solidFill>
                  <a:srgbClr val="211A30"/>
                </a:solidFill>
                <a:latin typeface="Aptos"/>
              </a:defRPr>
            </a:pPr>
            <a:r>
              <a:t>Komunitas UMKM</a:t>
            </a:r>
          </a:p>
          <a:p>
            <a:pPr>
              <a:spcAft>
                <a:spcPts val="1000"/>
              </a:spcAft>
              <a:defRPr sz="1500" b="0">
                <a:solidFill>
                  <a:srgbClr val="211A30"/>
                </a:solidFill>
                <a:latin typeface="Aptos"/>
              </a:defRPr>
            </a:pPr>
            <a:r>
              <a:t>Agensi digital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2560320"/>
            <a:ext cx="2606040" cy="1645920"/>
          </a:xfrm>
          <a:prstGeom prst="rect">
            <a:avLst/>
          </a:prstGeom>
          <a:solidFill>
            <a:srgbClr val="F5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697479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D45D7"/>
                </a:solidFill>
                <a:latin typeface="Aptos"/>
              </a:defRPr>
            </a:pPr>
            <a:r>
              <a:t>Aktivitas kunci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154679"/>
            <a:ext cx="23317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11A30"/>
                </a:solidFill>
                <a:latin typeface="Aptos"/>
              </a:defRPr>
            </a:pPr>
            <a:r>
              <a:t>Menjaga koneksi WA</a:t>
            </a:r>
          </a:p>
          <a:p>
            <a:pPr>
              <a:spcAft>
                <a:spcPts val="1000"/>
              </a:spcAft>
              <a:defRPr sz="1500" b="0">
                <a:solidFill>
                  <a:srgbClr val="211A30"/>
                </a:solidFill>
                <a:latin typeface="Aptos"/>
              </a:defRPr>
            </a:pPr>
            <a:r>
              <a:t>Memperbaiki jawaban</a:t>
            </a:r>
          </a:p>
          <a:p>
            <a:pPr>
              <a:spcAft>
                <a:spcPts val="1000"/>
              </a:spcAft>
              <a:defRPr sz="1500" b="0">
                <a:solidFill>
                  <a:srgbClr val="211A30"/>
                </a:solidFill>
                <a:latin typeface="Aptos"/>
              </a:defRPr>
            </a:pPr>
            <a:r>
              <a:t>Mendampingi pengguna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4297680"/>
            <a:ext cx="2606040" cy="1645920"/>
          </a:xfrm>
          <a:prstGeom prst="rect">
            <a:avLst/>
          </a:prstGeom>
          <a:solidFill>
            <a:srgbClr val="F5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443484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D45D7"/>
                </a:solidFill>
                <a:latin typeface="Aptos"/>
              </a:defRPr>
            </a:pPr>
            <a:r>
              <a:t>Sumber daya kunci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892040"/>
            <a:ext cx="23317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11A30"/>
                </a:solidFill>
                <a:latin typeface="Aptos"/>
              </a:defRPr>
            </a:pPr>
            <a:r>
              <a:t>Platform dan tim</a:t>
            </a:r>
          </a:p>
          <a:p>
            <a:pPr>
              <a:spcAft>
                <a:spcPts val="1000"/>
              </a:spcAft>
              <a:defRPr sz="1500" b="0">
                <a:solidFill>
                  <a:srgbClr val="211A30"/>
                </a:solidFill>
                <a:latin typeface="Aptos"/>
              </a:defRPr>
            </a:pPr>
            <a:r>
              <a:t>Data usaha</a:t>
            </a:r>
          </a:p>
          <a:p>
            <a:pPr>
              <a:spcAft>
                <a:spcPts val="1000"/>
              </a:spcAft>
              <a:defRPr sz="1500" b="0">
                <a:solidFill>
                  <a:srgbClr val="211A30"/>
                </a:solidFill>
                <a:latin typeface="Aptos"/>
              </a:defRPr>
            </a:pPr>
            <a:r>
              <a:t>Infrastruktur sesi WA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2560320"/>
            <a:ext cx="2560320" cy="3383280"/>
          </a:xfrm>
          <a:prstGeom prst="rect">
            <a:avLst/>
          </a:prstGeom>
          <a:solidFill>
            <a:srgbClr val="F5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2697479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D45D7"/>
                </a:solidFill>
                <a:latin typeface="Aptos"/>
              </a:defRPr>
            </a:pPr>
            <a:r>
              <a:t>Nilai yang ditawarkan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154679"/>
            <a:ext cx="22860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11A30"/>
                </a:solidFill>
                <a:latin typeface="Aptos"/>
              </a:defRPr>
            </a:pPr>
            <a:r>
              <a:t>Respons lebih cepat</a:t>
            </a:r>
          </a:p>
          <a:p>
            <a:pPr>
              <a:spcAft>
                <a:spcPts val="1000"/>
              </a:spcAft>
              <a:defRPr sz="1500" b="0">
                <a:solidFill>
                  <a:srgbClr val="211A30"/>
                </a:solidFill>
                <a:latin typeface="Aptos"/>
              </a:defRPr>
            </a:pPr>
            <a:r>
              <a:t>Jawaban berbasis katalog</a:t>
            </a:r>
          </a:p>
          <a:p>
            <a:pPr>
              <a:spcAft>
                <a:spcPts val="1000"/>
              </a:spcAft>
              <a:defRPr sz="1500" b="0">
                <a:solidFill>
                  <a:srgbClr val="211A30"/>
                </a:solidFill>
                <a:latin typeface="Aptos"/>
              </a:defRPr>
            </a:pPr>
            <a:r>
              <a:t>Pengaturan mandiri</a:t>
            </a:r>
          </a:p>
          <a:p>
            <a:pPr>
              <a:spcAft>
                <a:spcPts val="1000"/>
              </a:spcAft>
              <a:defRPr sz="1500" b="0">
                <a:solidFill>
                  <a:srgbClr val="211A30"/>
                </a:solidFill>
                <a:latin typeface="Aptos"/>
              </a:defRPr>
            </a:pPr>
            <a:r>
              <a:t>Menghemat waktu admin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0" y="2560320"/>
            <a:ext cx="2606040" cy="1645920"/>
          </a:xfrm>
          <a:prstGeom prst="rect">
            <a:avLst/>
          </a:prstGeom>
          <a:solidFill>
            <a:srgbClr val="F5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2697479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D45D7"/>
                </a:solidFill>
                <a:latin typeface="Aptos"/>
              </a:defRPr>
            </a:pPr>
            <a:r>
              <a:t>Hubungan pelanggan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3154679"/>
            <a:ext cx="23317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11A30"/>
                </a:solidFill>
                <a:latin typeface="Aptos"/>
              </a:defRPr>
            </a:pPr>
            <a:r>
              <a:t>Trial mandiri</a:t>
            </a:r>
          </a:p>
          <a:p>
            <a:pPr>
              <a:spcAft>
                <a:spcPts val="1000"/>
              </a:spcAft>
              <a:defRPr sz="1500" b="0">
                <a:solidFill>
                  <a:srgbClr val="211A30"/>
                </a:solidFill>
                <a:latin typeface="Aptos"/>
              </a:defRPr>
            </a:pPr>
            <a:r>
              <a:t>Panduan aktivasi</a:t>
            </a:r>
          </a:p>
          <a:p>
            <a:pPr>
              <a:spcAft>
                <a:spcPts val="1000"/>
              </a:spcAft>
              <a:defRPr sz="1500" b="0">
                <a:solidFill>
                  <a:srgbClr val="211A30"/>
                </a:solidFill>
                <a:latin typeface="Aptos"/>
              </a:defRPr>
            </a:pPr>
            <a:r>
              <a:t>Bantuan penggunaan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0" y="4297680"/>
            <a:ext cx="2606040" cy="1645920"/>
          </a:xfrm>
          <a:prstGeom prst="rect">
            <a:avLst/>
          </a:prstGeom>
          <a:solidFill>
            <a:srgbClr val="F5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23960" y="443484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D45D7"/>
                </a:solidFill>
                <a:latin typeface="Aptos"/>
              </a:defRPr>
            </a:pPr>
            <a:r>
              <a:t>Saluran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4892040"/>
            <a:ext cx="23317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11A30"/>
                </a:solidFill>
                <a:latin typeface="Aptos"/>
              </a:defRPr>
            </a:pPr>
            <a:r>
              <a:t>Web BalasWA</a:t>
            </a:r>
          </a:p>
          <a:p>
            <a:pPr>
              <a:spcAft>
                <a:spcPts val="1000"/>
              </a:spcAft>
              <a:defRPr sz="1500" b="0">
                <a:solidFill>
                  <a:srgbClr val="211A30"/>
                </a:solidFill>
                <a:latin typeface="Aptos"/>
              </a:defRPr>
            </a:pPr>
            <a:r>
              <a:t>Konten edukasi</a:t>
            </a:r>
          </a:p>
          <a:p>
            <a:pPr>
              <a:spcAft>
                <a:spcPts val="1000"/>
              </a:spcAft>
              <a:defRPr sz="1500" b="0">
                <a:solidFill>
                  <a:srgbClr val="211A30"/>
                </a:solidFill>
                <a:latin typeface="Aptos"/>
              </a:defRPr>
            </a:pPr>
            <a:r>
              <a:t>Komunitas dan rujukan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384280" y="2560320"/>
            <a:ext cx="2606040" cy="3383280"/>
          </a:xfrm>
          <a:prstGeom prst="rect">
            <a:avLst/>
          </a:prstGeom>
          <a:solidFill>
            <a:srgbClr val="F5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521440" y="2697479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D45D7"/>
                </a:solidFill>
                <a:latin typeface="Aptos"/>
              </a:defRPr>
            </a:pPr>
            <a:r>
              <a:t>Segmen pelanggan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0" y="3154679"/>
            <a:ext cx="23317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11A30"/>
                </a:solidFill>
                <a:latin typeface="Aptos"/>
              </a:defRPr>
            </a:pPr>
            <a:r>
              <a:t>UMKM via WhatsApp</a:t>
            </a:r>
          </a:p>
          <a:p>
            <a:pPr>
              <a:spcAft>
                <a:spcPts val="1000"/>
              </a:spcAft>
              <a:defRPr sz="1500" b="0">
                <a:solidFill>
                  <a:srgbClr val="211A30"/>
                </a:solidFill>
                <a:latin typeface="Aptos"/>
              </a:defRPr>
            </a:pPr>
            <a:r>
              <a:t>Fashion, kuliner, jasa</a:t>
            </a:r>
          </a:p>
          <a:p>
            <a:pPr>
              <a:spcAft>
                <a:spcPts val="1000"/>
              </a:spcAft>
              <a:defRPr sz="1500" b="0">
                <a:solidFill>
                  <a:srgbClr val="211A30"/>
                </a:solidFill>
                <a:latin typeface="Aptos"/>
              </a:defRPr>
            </a:pPr>
            <a:r>
              <a:t>Pemilik dengan admin terbatas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6035040"/>
            <a:ext cx="6629400" cy="1234440"/>
          </a:xfrm>
          <a:prstGeom prst="rect">
            <a:avLst/>
          </a:prstGeom>
          <a:solidFill>
            <a:srgbClr val="F5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6172200"/>
            <a:ext cx="6355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D45D7"/>
                </a:solidFill>
                <a:latin typeface="Aptos"/>
              </a:defRPr>
            </a:pPr>
            <a:r>
              <a:t>Struktur biaya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629400"/>
            <a:ext cx="63550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11A30"/>
                </a:solidFill>
                <a:latin typeface="Aptos"/>
              </a:defRPr>
            </a:pPr>
            <a:r>
              <a:t>AI • server dan Chrome • pengembangan • dukungan • pemasaran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60920" y="6035040"/>
            <a:ext cx="6629400" cy="1234440"/>
          </a:xfrm>
          <a:prstGeom prst="rect">
            <a:avLst/>
          </a:prstGeom>
          <a:solidFill>
            <a:srgbClr val="F5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0" y="6172200"/>
            <a:ext cx="6355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D45D7"/>
                </a:solidFill>
                <a:latin typeface="Aptos"/>
              </a:defRPr>
            </a:pPr>
            <a:r>
              <a:t>Arus pendapatan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0" y="6629400"/>
            <a:ext cx="63550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11A30"/>
                </a:solidFill>
                <a:latin typeface="Aptos"/>
              </a:defRPr>
            </a:pPr>
            <a:r>
              <a:t>Langganan Starter / Tumbuh; tambahan kuota masih usulan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280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D45D7"/>
                </a:solidFill>
                <a:latin typeface="Aptos"/>
              </a:defRPr>
            </a:pPr>
            <a:r>
              <a:t>05 / SEGMEN PELANGGAN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3350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11A30"/>
                </a:solidFill>
                <a:latin typeface="Aptos"/>
              </a:defRPr>
            </a:pPr>
            <a:r>
              <a:t>Mulai dari usaha yang kebutuhannya sederhana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3258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70667D"/>
                </a:solidFill>
                <a:latin typeface="Aptos"/>
              </a:defRPr>
            </a:pPr>
            <a:r>
              <a:t>Pembeli layanan: pemilik usaha. Pengguna harian: pemilik atau admin toko.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662672"/>
            <a:ext cx="13350240" cy="13716"/>
          </a:xfrm>
          <a:prstGeom prst="rect">
            <a:avLst/>
          </a:prstGeom>
          <a:solidFill>
            <a:srgbClr val="DDD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845552"/>
            <a:ext cx="1188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70667D"/>
                </a:solidFill>
                <a:latin typeface="Aptos"/>
              </a:defRPr>
            </a:pPr>
            <a:r>
              <a:t>BALASWA   /   BUSINESS MODEL CANVAS   /   RANCANGAN BISNIS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0" y="7799831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70667D"/>
                </a:solidFill>
                <a:latin typeface="Aptos"/>
              </a:defRPr>
            </a:pPr>
            <a:r>
              <a:t>05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2606040"/>
            <a:ext cx="6492240" cy="4206240"/>
          </a:xfrm>
          <a:prstGeom prst="rect">
            <a:avLst/>
          </a:prstGeom>
          <a:solidFill>
            <a:srgbClr val="F5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6217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6D45D7"/>
                </a:solidFill>
                <a:latin typeface="Aptos"/>
              </a:defRPr>
            </a:pPr>
            <a:r>
              <a:t>Sasaran awal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37560"/>
            <a:ext cx="6126480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11A30"/>
                </a:solidFill>
                <a:latin typeface="Aptos"/>
              </a:defRPr>
            </a:pPr>
            <a:r>
              <a:t>Toko fashion dengan katalog dan harga jelas.</a:t>
            </a:r>
          </a:p>
          <a:p>
            <a:pPr>
              <a:spcAft>
                <a:spcPts val="1000"/>
              </a:spcAft>
              <a:defRPr sz="2200" b="0">
                <a:solidFill>
                  <a:srgbClr val="211A30"/>
                </a:solidFill>
                <a:latin typeface="Aptos"/>
              </a:defRPr>
            </a:pPr>
            <a:r>
              <a:t>Kuliner dengan menu, jam buka, serta area pengiriman tetap.</a:t>
            </a:r>
          </a:p>
          <a:p>
            <a:pPr>
              <a:spcAft>
                <a:spcPts val="1000"/>
              </a:spcAft>
              <a:defRPr sz="2200" b="0">
                <a:solidFill>
                  <a:srgbClr val="211A30"/>
                </a:solidFill>
                <a:latin typeface="Aptos"/>
              </a:defRPr>
            </a:pPr>
            <a:r>
              <a:t>Usaha jasa dengan pertanyaan awal yang berulang.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788920"/>
            <a:ext cx="5806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6D45D7"/>
                </a:solidFill>
                <a:latin typeface="Aptos"/>
              </a:defRPr>
            </a:pPr>
            <a:r>
              <a:t>Kriteria 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3429000"/>
            <a:ext cx="5715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11A30"/>
                </a:solidFill>
                <a:latin typeface="Aptos"/>
              </a:defRPr>
            </a:pPr>
            <a:r>
              <a:t>Menggunakan satu nomor usaha aktif.</a:t>
            </a:r>
          </a:p>
          <a:p>
            <a:pPr>
              <a:spcAft>
                <a:spcPts val="1000"/>
              </a:spcAft>
              <a:defRPr sz="2200" b="0">
                <a:solidFill>
                  <a:srgbClr val="211A30"/>
                </a:solidFill>
                <a:latin typeface="Aptos"/>
              </a:defRPr>
            </a:pPr>
            <a:r>
              <a:t>Bersedia mengisi dan memperbarui data produk.</a:t>
            </a:r>
          </a:p>
          <a:p>
            <a:pPr>
              <a:spcAft>
                <a:spcPts val="1000"/>
              </a:spcAft>
              <a:defRPr sz="2200" b="0">
                <a:solidFill>
                  <a:srgbClr val="211A30"/>
                </a:solidFill>
                <a:latin typeface="Aptos"/>
              </a:defRPr>
            </a:pPr>
            <a:r>
              <a:t>Mau menilai jawaban bot dan membagikan kendala penggunaan.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7086600"/>
            <a:ext cx="1298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70667D"/>
                </a:solidFill>
                <a:latin typeface="Aptos"/>
              </a:defRPr>
            </a:pPr>
            <a:r>
              <a:t>Belum menjadi prioritas: perusahaan dengan banyak cabang, banyak admin, atau alur transaksi kompleks.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280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D45D7"/>
                </a:solidFill>
                <a:latin typeface="Aptos"/>
              </a:defRPr>
            </a:pPr>
            <a:r>
              <a:t>06 / SALURAN &amp; HUBUNGAN PELANGGAN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3350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11A30"/>
                </a:solidFill>
                <a:latin typeface="Aptos"/>
              </a:defRPr>
            </a:pPr>
            <a:r>
              <a:t>Dari mengenal produk sampai berlangganan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3258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70667D"/>
                </a:solidFill>
                <a:latin typeface="Aptos"/>
              </a:defRPr>
            </a:pPr>
            <a:r>
              <a:t>Rencana pemasaran awal: demonstrasi nyata, bukan janji otomatisasi seluruh bisnis.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662672"/>
            <a:ext cx="13350240" cy="13716"/>
          </a:xfrm>
          <a:prstGeom prst="rect">
            <a:avLst/>
          </a:prstGeom>
          <a:solidFill>
            <a:srgbClr val="DDD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845552"/>
            <a:ext cx="1188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70667D"/>
                </a:solidFill>
                <a:latin typeface="Aptos"/>
              </a:defRPr>
            </a:pPr>
            <a:r>
              <a:t>BALASWA   /   BUSINESS MODEL CANVAS   /   RANCANGAN BISNIS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0" y="7799831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70667D"/>
                </a:solidFill>
                <a:latin typeface="Aptos"/>
              </a:defRPr>
            </a:pPr>
            <a:r>
              <a:t>06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2606040"/>
            <a:ext cx="6492240" cy="4206240"/>
          </a:xfrm>
          <a:prstGeom prst="rect">
            <a:avLst/>
          </a:prstGeom>
          <a:solidFill>
            <a:srgbClr val="F5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6217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6D45D7"/>
                </a:solidFill>
                <a:latin typeface="Aptos"/>
              </a:defRPr>
            </a:pPr>
            <a:r>
              <a:t>Saluran akuisisi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37560"/>
            <a:ext cx="6126480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11A30"/>
                </a:solidFill>
                <a:latin typeface="Aptos"/>
              </a:defRPr>
            </a:pPr>
            <a:r>
              <a:t>Web dengan contoh pertanyaan dan jawaban.</a:t>
            </a:r>
          </a:p>
          <a:p>
            <a:pPr>
              <a:spcAft>
                <a:spcPts val="1000"/>
              </a:spcAft>
              <a:defRPr sz="2200" b="0">
                <a:solidFill>
                  <a:srgbClr val="211A30"/>
                </a:solidFill>
                <a:latin typeface="Aptos"/>
              </a:defRPr>
            </a:pPr>
            <a:r>
              <a:t>Konten singkat tentang layanan pelanggan UMKM.</a:t>
            </a:r>
          </a:p>
          <a:p>
            <a:pPr>
              <a:spcAft>
                <a:spcPts val="1000"/>
              </a:spcAft>
              <a:defRPr sz="2200" b="0">
                <a:solidFill>
                  <a:srgbClr val="211A30"/>
                </a:solidFill>
                <a:latin typeface="Aptos"/>
              </a:defRPr>
            </a:pPr>
            <a:r>
              <a:t>Demo melalui komunitas usaha dan mitra agensi.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788920"/>
            <a:ext cx="5806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6D45D7"/>
                </a:solidFill>
                <a:latin typeface="Aptos"/>
              </a:defRPr>
            </a:pPr>
            <a:r>
              <a:t>Hubungan pelanggan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3429000"/>
            <a:ext cx="5715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11A30"/>
                </a:solidFill>
                <a:latin typeface="Aptos"/>
              </a:defRPr>
            </a:pPr>
            <a:r>
              <a:t>Trial 7 hari untuk mencoba manfaat.</a:t>
            </a:r>
          </a:p>
          <a:p>
            <a:pPr>
              <a:spcAft>
                <a:spcPts val="1000"/>
              </a:spcAft>
              <a:defRPr sz="2200" b="0">
                <a:solidFill>
                  <a:srgbClr val="211A30"/>
                </a:solidFill>
                <a:latin typeface="Aptos"/>
              </a:defRPr>
            </a:pPr>
            <a:r>
              <a:t>Panduan: isi profil, tambah produk, tautkan WhatsApp.</a:t>
            </a:r>
          </a:p>
          <a:p>
            <a:pPr>
              <a:spcAft>
                <a:spcPts val="1000"/>
              </a:spcAft>
              <a:defRPr sz="2200" b="0">
                <a:solidFill>
                  <a:srgbClr val="211A30"/>
                </a:solidFill>
                <a:latin typeface="Aptos"/>
              </a:defRPr>
            </a:pPr>
            <a:r>
              <a:t>Bantuan aktivasi dan evaluasi sebelum trial berakhir.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7086600"/>
            <a:ext cx="1298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70667D"/>
                </a:solidFill>
                <a:latin typeface="Aptos"/>
              </a:defRPr>
            </a:pPr>
            <a:r>
              <a:t>Pantau asal pendaftaran, keberhasilan aktivasi, konversi berbayar, dan alasan berhenti.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280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D45D7"/>
                </a:solidFill>
                <a:latin typeface="Aptos"/>
              </a:defRPr>
            </a:pPr>
            <a:r>
              <a:t>07 / AKTIVITAS KUNCI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3350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11A30"/>
                </a:solidFill>
                <a:latin typeface="Aptos"/>
              </a:defRPr>
            </a:pPr>
            <a:r>
              <a:t>Keandalan layanan menjadi pekerjaan utama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3258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70667D"/>
                </a:solidFill>
                <a:latin typeface="Aptos"/>
              </a:defRPr>
            </a:pPr>
            <a:r>
              <a:t>Produk bernilai hanya jika pesan diterima, jawaban tepat, dan balasan benar-benar terkirim.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662672"/>
            <a:ext cx="13350240" cy="13716"/>
          </a:xfrm>
          <a:prstGeom prst="rect">
            <a:avLst/>
          </a:prstGeom>
          <a:solidFill>
            <a:srgbClr val="DDD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845552"/>
            <a:ext cx="1188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70667D"/>
                </a:solidFill>
                <a:latin typeface="Aptos"/>
              </a:defRPr>
            </a:pPr>
            <a:r>
              <a:t>BALASWA   /   BUSINESS MODEL CANVAS   /   RANCANGAN BISNIS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0" y="7799831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70667D"/>
                </a:solidFill>
                <a:latin typeface="Aptos"/>
              </a:defRPr>
            </a:pPr>
            <a:r>
              <a:t>07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2606040"/>
            <a:ext cx="6492240" cy="4206240"/>
          </a:xfrm>
          <a:prstGeom prst="rect">
            <a:avLst/>
          </a:prstGeom>
          <a:solidFill>
            <a:srgbClr val="F5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6217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6D45D7"/>
                </a:solidFill>
                <a:latin typeface="Aptos"/>
              </a:defRPr>
            </a:pPr>
            <a:r>
              <a:t>Operasional produk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37560"/>
            <a:ext cx="6126480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11A30"/>
                </a:solidFill>
                <a:latin typeface="Aptos"/>
              </a:defRPr>
            </a:pPr>
            <a:r>
              <a:t>Menjaga sesi WhatsApp dan pemulihan koneksi.</a:t>
            </a:r>
          </a:p>
          <a:p>
            <a:pPr>
              <a:spcAft>
                <a:spcPts val="1000"/>
              </a:spcAft>
              <a:defRPr sz="2200" b="0">
                <a:solidFill>
                  <a:srgbClr val="211A30"/>
                </a:solidFill>
                <a:latin typeface="Aptos"/>
              </a:defRPr>
            </a:pPr>
            <a:r>
              <a:t>Menyaring pesan yang tidak relevan.</a:t>
            </a:r>
          </a:p>
          <a:p>
            <a:pPr>
              <a:spcAft>
                <a:spcPts val="1000"/>
              </a:spcAft>
              <a:defRPr sz="2200" b="0">
                <a:solidFill>
                  <a:srgbClr val="211A30"/>
                </a:solidFill>
                <a:latin typeface="Aptos"/>
              </a:defRPr>
            </a:pPr>
            <a:r>
              <a:t>Menguji ketepatan jawaban dan membatasi penggunaan AI.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788920"/>
            <a:ext cx="5806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6D45D7"/>
                </a:solidFill>
                <a:latin typeface="Aptos"/>
              </a:defRPr>
            </a:pPr>
            <a:r>
              <a:t>Operasional bisnis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3429000"/>
            <a:ext cx="5715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11A30"/>
                </a:solidFill>
                <a:latin typeface="Aptos"/>
              </a:defRPr>
            </a:pPr>
            <a:r>
              <a:t>Mendampingi aktivasi pengguna baru.</a:t>
            </a:r>
          </a:p>
          <a:p>
            <a:pPr>
              <a:spcAft>
                <a:spcPts val="1000"/>
              </a:spcAft>
              <a:defRPr sz="2200" b="0">
                <a:solidFill>
                  <a:srgbClr val="211A30"/>
                </a:solidFill>
                <a:latin typeface="Aptos"/>
              </a:defRPr>
            </a:pPr>
            <a:r>
              <a:t>Menangani keluhan serta kegagalan balasan.</a:t>
            </a:r>
          </a:p>
          <a:p>
            <a:pPr>
              <a:spcAft>
                <a:spcPts val="1000"/>
              </a:spcAft>
              <a:defRPr sz="2200" b="0">
                <a:solidFill>
                  <a:srgbClr val="211A30"/>
                </a:solidFill>
                <a:latin typeface="Aptos"/>
              </a:defRPr>
            </a:pPr>
            <a:r>
              <a:t>Menguji harga dan meninjau biaya per pelanggan.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7086600"/>
            <a:ext cx="1298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70667D"/>
                </a:solidFill>
                <a:latin typeface="Aptos"/>
              </a:defRPr>
            </a:pPr>
            <a:r>
              <a:t>Log harus membedakan pesan masuk, pemrosesan AI, keberhasilan kirim, dan kegagalan.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280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D45D7"/>
                </a:solidFill>
                <a:latin typeface="Aptos"/>
              </a:defRPr>
            </a:pPr>
            <a:r>
              <a:t>08 / SUMBER DAYA &amp; MITRA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3350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11A30"/>
                </a:solidFill>
                <a:latin typeface="Aptos"/>
              </a:defRPr>
            </a:pPr>
            <a:r>
              <a:t>Teknologi mendukung; data usaha menentukan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3258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70667D"/>
                </a:solidFill>
                <a:latin typeface="Aptos"/>
              </a:defRPr>
            </a:pPr>
            <a:r>
              <a:t>Daftar mitra berikut adalah calon penyedia atau kanal kerja sama, bukan kemitraan yang sudah disepakati.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662672"/>
            <a:ext cx="13350240" cy="13716"/>
          </a:xfrm>
          <a:prstGeom prst="rect">
            <a:avLst/>
          </a:prstGeom>
          <a:solidFill>
            <a:srgbClr val="DDD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845552"/>
            <a:ext cx="1188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70667D"/>
                </a:solidFill>
                <a:latin typeface="Aptos"/>
              </a:defRPr>
            </a:pPr>
            <a:r>
              <a:t>BALASWA   /   BUSINESS MODEL CANVAS   /   RANCANGAN BISNIS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0" y="7799831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70667D"/>
                </a:solidFill>
                <a:latin typeface="Aptos"/>
              </a:defRPr>
            </a:pPr>
            <a:r>
              <a:t>08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2606040"/>
            <a:ext cx="6492240" cy="4206240"/>
          </a:xfrm>
          <a:prstGeom prst="rect">
            <a:avLst/>
          </a:prstGeom>
          <a:solidFill>
            <a:srgbClr val="F5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6217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6D45D7"/>
                </a:solidFill>
                <a:latin typeface="Aptos"/>
              </a:defRPr>
            </a:pPr>
            <a:r>
              <a:t>Sumber daya utama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37560"/>
            <a:ext cx="6126480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11A30"/>
                </a:solidFill>
                <a:latin typeface="Aptos"/>
              </a:defRPr>
            </a:pPr>
            <a:r>
              <a:t>Aplikasi web, akun pengguna, dan penyimpanan sesi.</a:t>
            </a:r>
          </a:p>
          <a:p>
            <a:pPr>
              <a:spcAft>
                <a:spcPts val="1000"/>
              </a:spcAft>
              <a:defRPr sz="2200" b="0">
                <a:solidFill>
                  <a:srgbClr val="211A30"/>
                </a:solidFill>
                <a:latin typeface="Aptos"/>
              </a:defRPr>
            </a:pPr>
            <a:r>
              <a:t>Integrasi whatsapp-web.js, 9Router, serta penyedia AI.</a:t>
            </a:r>
          </a:p>
          <a:p>
            <a:pPr>
              <a:spcAft>
                <a:spcPts val="1000"/>
              </a:spcAft>
              <a:defRPr sz="2200" b="0">
                <a:solidFill>
                  <a:srgbClr val="211A30"/>
                </a:solidFill>
                <a:latin typeface="Aptos"/>
              </a:defRPr>
            </a:pPr>
            <a:r>
              <a:t>Tim pengembangan dan dukungan; data usaha yang akurat.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788920"/>
            <a:ext cx="5806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6D45D7"/>
                </a:solidFill>
                <a:latin typeface="Aptos"/>
              </a:defRPr>
            </a:pPr>
            <a:r>
              <a:t>Calon mitra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3429000"/>
            <a:ext cx="5715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11A30"/>
                </a:solidFill>
                <a:latin typeface="Aptos"/>
              </a:defRPr>
            </a:pPr>
            <a:r>
              <a:t>Penyedia hosting dan model AI.</a:t>
            </a:r>
          </a:p>
          <a:p>
            <a:pPr>
              <a:spcAft>
                <a:spcPts val="1000"/>
              </a:spcAft>
              <a:defRPr sz="2200" b="0">
                <a:solidFill>
                  <a:srgbClr val="211A30"/>
                </a:solidFill>
                <a:latin typeface="Aptos"/>
              </a:defRPr>
            </a:pPr>
            <a:r>
              <a:t>Komunitas UMKM serta agensi digital.</a:t>
            </a:r>
          </a:p>
          <a:p>
            <a:pPr>
              <a:spcAft>
                <a:spcPts val="1000"/>
              </a:spcAft>
              <a:defRPr sz="2200" b="0">
                <a:solidFill>
                  <a:srgbClr val="211A30"/>
                </a:solidFill>
                <a:latin typeface="Aptos"/>
              </a:defRPr>
            </a:pPr>
            <a:r>
              <a:t>Penyedia pembayaran untuk tahap penagihan berikutnya.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7086600"/>
            <a:ext cx="1298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70667D"/>
                </a:solidFill>
                <a:latin typeface="Aptos"/>
              </a:defRPr>
            </a:pPr>
            <a:r>
              <a:t>WhatsApp adalah platform yang menjadi ketergantungan produk; bukan mitra resmi BalasWA.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280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D45D7"/>
                </a:solidFill>
                <a:latin typeface="Aptos"/>
              </a:defRPr>
            </a:pPr>
            <a:r>
              <a:t>09 / ARUS PENDAPATAN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3350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11A30"/>
                </a:solidFill>
                <a:latin typeface="Aptos"/>
              </a:defRPr>
            </a:pPr>
            <a:r>
              <a:t>Langganan bulanan dengan batas penggunaan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3258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70667D"/>
                </a:solidFill>
                <a:latin typeface="Aptos"/>
              </a:defRPr>
            </a:pPr>
            <a:r>
              <a:t>Rancangan harga dari PRD; kelayakan biaya dan kesediaan membayar belum tervalidasi.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662672"/>
            <a:ext cx="13350240" cy="13716"/>
          </a:xfrm>
          <a:prstGeom prst="rect">
            <a:avLst/>
          </a:prstGeom>
          <a:solidFill>
            <a:srgbClr val="DDD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845552"/>
            <a:ext cx="1188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70667D"/>
                </a:solidFill>
                <a:latin typeface="Aptos"/>
              </a:defRPr>
            </a:pPr>
            <a:r>
              <a:t>BALASWA   /   BUSINESS MODEL CANVAS   /   RANCANGAN BISNIS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0" y="7799831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70667D"/>
                </a:solidFill>
                <a:latin typeface="Aptos"/>
              </a:defRPr>
            </a:pPr>
            <a:r>
              <a:t>09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743200"/>
            <a:ext cx="4206240" cy="3063240"/>
          </a:xfrm>
          <a:prstGeom prst="rect">
            <a:avLst/>
          </a:prstGeom>
          <a:solidFill>
            <a:srgbClr val="F5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01752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D45D7"/>
                </a:solidFill>
                <a:latin typeface="Aptos"/>
              </a:defRPr>
            </a:pPr>
            <a:r>
              <a:t>TRIAL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703320"/>
            <a:ext cx="37490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11A30"/>
                </a:solidFill>
                <a:latin typeface="Aptos"/>
              </a:defRPr>
            </a:pPr>
            <a:r>
              <a:t>Gratis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57200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70667D"/>
                </a:solidFill>
                <a:latin typeface="Aptos"/>
              </a:defRPr>
            </a:pPr>
            <a:r>
              <a:t>tanpa biaya trial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166360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11A30"/>
                </a:solidFill>
                <a:latin typeface="Aptos"/>
              </a:defRPr>
            </a:pPr>
            <a:r>
              <a:t>7 hari • 100 balasan 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2743200"/>
            <a:ext cx="4206240" cy="3063240"/>
          </a:xfrm>
          <a:prstGeom prst="rect">
            <a:avLst/>
          </a:prstGeom>
          <a:solidFill>
            <a:srgbClr val="F5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0680" y="301752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D45D7"/>
                </a:solidFill>
                <a:latin typeface="Aptos"/>
              </a:defRPr>
            </a:pPr>
            <a:r>
              <a:t>STARTER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3703320"/>
            <a:ext cx="37490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11A30"/>
                </a:solidFill>
                <a:latin typeface="Aptos"/>
              </a:defRPr>
            </a:pPr>
            <a:r>
              <a:t>Rp99.000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457200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70667D"/>
                </a:solidFill>
                <a:latin typeface="Aptos"/>
              </a:defRPr>
            </a:pPr>
            <a:r>
              <a:t>per bulan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5166360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11A30"/>
                </a:solidFill>
                <a:latin typeface="Aptos"/>
              </a:defRPr>
            </a:pPr>
            <a:r>
              <a:t>3.000 balasan AI / bulan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92640" y="2743200"/>
            <a:ext cx="4206240" cy="3063240"/>
          </a:xfrm>
          <a:prstGeom prst="rect">
            <a:avLst/>
          </a:prstGeom>
          <a:solidFill>
            <a:srgbClr val="F5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21240" y="301752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D45D7"/>
                </a:solidFill>
                <a:latin typeface="Aptos"/>
              </a:defRPr>
            </a:pPr>
            <a:r>
              <a:t>TUMBUH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40" y="3703320"/>
            <a:ext cx="37490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11A30"/>
                </a:solidFill>
                <a:latin typeface="Aptos"/>
              </a:defRPr>
            </a:pPr>
            <a:r>
              <a:t>Rp199.000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21240" y="457200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70667D"/>
                </a:solidFill>
                <a:latin typeface="Aptos"/>
              </a:defRPr>
            </a:pPr>
            <a:r>
              <a:t>per bulan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5166360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11A30"/>
                </a:solidFill>
                <a:latin typeface="Aptos"/>
              </a:defRPr>
            </a:pPr>
            <a:r>
              <a:t>10.000 balasan AI / bulan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355080"/>
            <a:ext cx="12801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70667D"/>
                </a:solidFill>
                <a:latin typeface="Aptos"/>
              </a:defRPr>
            </a:pPr>
            <a:r>
              <a:t>Tambahan kuota: usulan tahap berikutnya. Integrasi pembayaran otomatis belum termasuk klaim fitur yang sudah tersedia.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280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D45D7"/>
                </a:solidFill>
                <a:latin typeface="Aptos"/>
              </a:defRPr>
            </a:pPr>
            <a:r>
              <a:t>10 / STRUKTUR BIAYA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3350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11A30"/>
                </a:solidFill>
                <a:latin typeface="Aptos"/>
              </a:defRPr>
            </a:pPr>
            <a:r>
              <a:t>Jangan menilai margin dari biaya AI saja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3258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70667D"/>
                </a:solidFill>
                <a:latin typeface="Aptos"/>
              </a:defRPr>
            </a:pPr>
            <a:r>
              <a:t>Belum ada proyeksi laba karena data biaya aktual dan pola penggunaan pilot belum tersedia.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662672"/>
            <a:ext cx="13350240" cy="13716"/>
          </a:xfrm>
          <a:prstGeom prst="rect">
            <a:avLst/>
          </a:prstGeom>
          <a:solidFill>
            <a:srgbClr val="DDD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845552"/>
            <a:ext cx="1188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70667D"/>
                </a:solidFill>
                <a:latin typeface="Aptos"/>
              </a:defRPr>
            </a:pPr>
            <a:r>
              <a:t>BALASWA   /   BUSINESS MODEL CANVAS   /   RANCANGAN BISNIS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0" y="7799831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70667D"/>
                </a:solidFill>
                <a:latin typeface="Aptos"/>
              </a:defRPr>
            </a:pPr>
            <a:r>
              <a:t>10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2606040"/>
            <a:ext cx="6492240" cy="4206240"/>
          </a:xfrm>
          <a:prstGeom prst="rect">
            <a:avLst/>
          </a:prstGeom>
          <a:solidFill>
            <a:srgbClr val="F5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6217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6D45D7"/>
                </a:solidFill>
                <a:latin typeface="Aptos"/>
              </a:defRPr>
            </a:pPr>
            <a:r>
              <a:t>Komponen biaya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37560"/>
            <a:ext cx="6126480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11A30"/>
                </a:solidFill>
                <a:latin typeface="Aptos"/>
              </a:defRPr>
            </a:pPr>
            <a:r>
              <a:t>Variabel: token AI, sesi Chrome, dan dukungan per akun.</a:t>
            </a:r>
          </a:p>
          <a:p>
            <a:pPr>
              <a:spcAft>
                <a:spcPts val="1000"/>
              </a:spcAft>
              <a:defRPr sz="2200" b="0">
                <a:solidFill>
                  <a:srgbClr val="211A30"/>
                </a:solidFill>
                <a:latin typeface="Aptos"/>
              </a:defRPr>
            </a:pPr>
            <a:r>
              <a:t>Tetap: pengembangan, pemantauan, serta infrastruktur dasar.</a:t>
            </a:r>
          </a:p>
          <a:p>
            <a:pPr>
              <a:spcAft>
                <a:spcPts val="1000"/>
              </a:spcAft>
              <a:defRPr sz="2200" b="0">
                <a:solidFill>
                  <a:srgbClr val="211A30"/>
                </a:solidFill>
                <a:latin typeface="Aptos"/>
              </a:defRPr>
            </a:pPr>
            <a:r>
              <a:t>Akuisisi: konten, demo, mitra, dan promosi.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788920"/>
            <a:ext cx="5806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6D45D7"/>
                </a:solidFill>
                <a:latin typeface="Aptos"/>
              </a:defRPr>
            </a:pPr>
            <a:r>
              <a:t>Cara mengukur kelayakan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3429000"/>
            <a:ext cx="5715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11A30"/>
                </a:solidFill>
                <a:latin typeface="Aptos"/>
              </a:defRPr>
            </a:pPr>
            <a:r>
              <a:t>Catat biaya AI dan server per akun aktif.</a:t>
            </a:r>
          </a:p>
          <a:p>
            <a:pPr>
              <a:spcAft>
                <a:spcPts val="1000"/>
              </a:spcAft>
              <a:defRPr sz="2200" b="0">
                <a:solidFill>
                  <a:srgbClr val="211A30"/>
                </a:solidFill>
                <a:latin typeface="Aptos"/>
              </a:defRPr>
            </a:pPr>
            <a:r>
              <a:t>Margin kontribusi = pendapatan dikurangi biaya langsung layanan.</a:t>
            </a:r>
          </a:p>
          <a:p>
            <a:pPr>
              <a:spcAft>
                <a:spcPts val="1000"/>
              </a:spcAft>
              <a:defRPr sz="2200" b="0">
                <a:solidFill>
                  <a:srgbClr val="211A30"/>
                </a:solidFill>
                <a:latin typeface="Aptos"/>
              </a:defRPr>
            </a:pPr>
            <a:r>
              <a:t>Titik impas akun = biaya tetap dibagi margin kontribusi per akun.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7086600"/>
            <a:ext cx="1298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70667D"/>
                </a:solidFill>
                <a:latin typeface="Aptos"/>
              </a:defRPr>
            </a:pPr>
            <a:r>
              <a:t>Kuota dan harga ditinjau setelah pola penggunaan nyata terkumpul; bukan berdasarkan asumsi token saja.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280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D45D7"/>
                </a:solidFill>
                <a:latin typeface="Aptos"/>
              </a:defRPr>
            </a:pPr>
            <a:r>
              <a:t>11 / RISIKO &amp; MITIGASI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3350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11A30"/>
                </a:solidFill>
                <a:latin typeface="Aptos"/>
              </a:defRPr>
            </a:pPr>
            <a:r>
              <a:t>Kepercayaan pelanggan harus dijaga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3258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70667D"/>
                </a:solidFill>
                <a:latin typeface="Aptos"/>
              </a:defRPr>
            </a:pPr>
            <a:r>
              <a:t>whatsapp-web.js bukan API resmi WhatsApp; koneksi dapat berubah dan akun dapat terkena pembatasan.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662672"/>
            <a:ext cx="13350240" cy="13716"/>
          </a:xfrm>
          <a:prstGeom prst="rect">
            <a:avLst/>
          </a:prstGeom>
          <a:solidFill>
            <a:srgbClr val="DDD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845552"/>
            <a:ext cx="1188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70667D"/>
                </a:solidFill>
                <a:latin typeface="Aptos"/>
              </a:defRPr>
            </a:pPr>
            <a:r>
              <a:t>BALASWA   /   BUSINESS MODEL CANVAS   /   RANCANGAN BISNIS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0" y="7799831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70667D"/>
                </a:solidFill>
                <a:latin typeface="Aptos"/>
              </a:defRPr>
            </a:pPr>
            <a:r>
              <a:t>11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2606040"/>
            <a:ext cx="6492240" cy="4206240"/>
          </a:xfrm>
          <a:prstGeom prst="rect">
            <a:avLst/>
          </a:prstGeom>
          <a:solidFill>
            <a:srgbClr val="F5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6217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6D45D7"/>
                </a:solidFill>
                <a:latin typeface="Aptos"/>
              </a:defRPr>
            </a:pPr>
            <a:r>
              <a:t>Risiko utama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37560"/>
            <a:ext cx="6126480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11A30"/>
                </a:solidFill>
                <a:latin typeface="Aptos"/>
              </a:defRPr>
            </a:pPr>
            <a:r>
              <a:t>Sesi terputus atau perubahan WhatsApp Web.</a:t>
            </a:r>
          </a:p>
          <a:p>
            <a:pPr>
              <a:spcAft>
                <a:spcPts val="1000"/>
              </a:spcAft>
              <a:defRPr sz="2200" b="0">
                <a:solidFill>
                  <a:srgbClr val="211A30"/>
                </a:solidFill>
                <a:latin typeface="Aptos"/>
              </a:defRPr>
            </a:pPr>
            <a:r>
              <a:t>Jawaban keliru akibat data usang atau AI.</a:t>
            </a:r>
          </a:p>
          <a:p>
            <a:pPr>
              <a:spcAft>
                <a:spcPts val="1000"/>
              </a:spcAft>
              <a:defRPr sz="2200" b="0">
                <a:solidFill>
                  <a:srgbClr val="211A30"/>
                </a:solidFill>
                <a:latin typeface="Aptos"/>
              </a:defRPr>
            </a:pPr>
            <a:r>
              <a:t>Kebocoran percakapan, akses akun, dan kenaikan biaya.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788920"/>
            <a:ext cx="5806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6D45D7"/>
                </a:solidFill>
                <a:latin typeface="Aptos"/>
              </a:defRPr>
            </a:pPr>
            <a:r>
              <a:t>Mitigasi yang direncanakan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3429000"/>
            <a:ext cx="5715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11A30"/>
                </a:solidFill>
                <a:latin typeface="Aptos"/>
              </a:defRPr>
            </a:pPr>
            <a:r>
              <a:t>Status koneksi jelas; panduan penautan ulang; evaluasi API resmi.</a:t>
            </a:r>
          </a:p>
          <a:p>
            <a:pPr>
              <a:spcAft>
                <a:spcPts val="1000"/>
              </a:spcAft>
              <a:defRPr sz="2200" b="0">
                <a:solidFill>
                  <a:srgbClr val="211A30"/>
                </a:solidFill>
                <a:latin typeface="Aptos"/>
              </a:defRPr>
            </a:pPr>
            <a:r>
              <a:t>Data terstruktur, evaluasi jawaban, dan batas kewenangan bot.</a:t>
            </a:r>
          </a:p>
          <a:p>
            <a:pPr>
              <a:spcAft>
                <a:spcPts val="1000"/>
              </a:spcAft>
              <a:defRPr sz="2200" b="0">
                <a:solidFill>
                  <a:srgbClr val="211A30"/>
                </a:solidFill>
                <a:latin typeface="Aptos"/>
              </a:defRPr>
            </a:pPr>
            <a:r>
              <a:t>Pemisahan akun, pembatasan akses, kebijakan retensi, dan kuota.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7086600"/>
            <a:ext cx="1298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70667D"/>
                </a:solidFill>
                <a:latin typeface="Aptos"/>
              </a:defRPr>
            </a:pPr>
            <a:r>
              <a:t>Mitigasi perlu diuji. Hindari janji bebas blokir, selalu tersedia, atau jawaban selalu benar.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280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D45D7"/>
                </a:solidFill>
                <a:latin typeface="Aptos"/>
              </a:defRPr>
            </a:pPr>
            <a:r>
              <a:t>12 / RENCANA VALIDASI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3350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11A30"/>
                </a:solidFill>
                <a:latin typeface="Aptos"/>
              </a:defRPr>
            </a:pPr>
            <a:r>
              <a:t>Uji manfaat sebelum memperbesar bisnis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3258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70667D"/>
                </a:solidFill>
                <a:latin typeface="Aptos"/>
              </a:defRPr>
            </a:pPr>
            <a:r>
              <a:t>Usulan pilot 30 hari dengan 10–15 UMKM; ini target eksperimen, bukan jumlah pelanggan aktual.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662672"/>
            <a:ext cx="13350240" cy="13716"/>
          </a:xfrm>
          <a:prstGeom prst="rect">
            <a:avLst/>
          </a:prstGeom>
          <a:solidFill>
            <a:srgbClr val="DDD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845552"/>
            <a:ext cx="1188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70667D"/>
                </a:solidFill>
                <a:latin typeface="Aptos"/>
              </a:defRPr>
            </a:pPr>
            <a:r>
              <a:t>BALASWA   /   BUSINESS MODEL CANVAS   /   RANCANGAN BISNIS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0" y="7799831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70667D"/>
                </a:solidFill>
                <a:latin typeface="Aptos"/>
              </a:defRPr>
            </a:pPr>
            <a:r>
              <a:t>12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2606040"/>
            <a:ext cx="6492240" cy="4206240"/>
          </a:xfrm>
          <a:prstGeom prst="rect">
            <a:avLst/>
          </a:prstGeom>
          <a:solidFill>
            <a:srgbClr val="F5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6217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6D45D7"/>
                </a:solidFill>
                <a:latin typeface="Aptos"/>
              </a:defRPr>
            </a:pPr>
            <a:r>
              <a:t>Tahap pelaksanaan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37560"/>
            <a:ext cx="6126480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11A30"/>
                </a:solidFill>
                <a:latin typeface="Aptos"/>
              </a:defRPr>
            </a:pPr>
            <a:r>
              <a:t>Minggu 1: rekrut peserta dan ukur kondisi awal.</a:t>
            </a:r>
          </a:p>
          <a:p>
            <a:pPr>
              <a:spcAft>
                <a:spcPts val="1000"/>
              </a:spcAft>
              <a:defRPr sz="2200" b="0">
                <a:solidFill>
                  <a:srgbClr val="211A30"/>
                </a:solidFill>
                <a:latin typeface="Aptos"/>
              </a:defRPr>
            </a:pPr>
            <a:r>
              <a:t>Minggu 2–3: aktivasi, amati pemakaian, perbaiki kendala.</a:t>
            </a:r>
          </a:p>
          <a:p>
            <a:pPr>
              <a:spcAft>
                <a:spcPts val="1000"/>
              </a:spcAft>
              <a:defRPr sz="2200" b="0">
                <a:solidFill>
                  <a:srgbClr val="211A30"/>
                </a:solidFill>
                <a:latin typeface="Aptos"/>
              </a:defRPr>
            </a:pPr>
            <a:r>
              <a:t>Minggu 4: wawancara, tawarkan paket, evaluasi kelanjutan.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788920"/>
            <a:ext cx="5806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6D45D7"/>
                </a:solidFill>
                <a:latin typeface="Aptos"/>
              </a:defRPr>
            </a:pPr>
            <a:r>
              <a:t>Bukti yang dikumpulkan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3429000"/>
            <a:ext cx="5715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11A30"/>
                </a:solidFill>
                <a:latin typeface="Aptos"/>
              </a:defRPr>
            </a:pPr>
            <a:r>
              <a:t>Waktu respons serta ketepatan jawaban.</a:t>
            </a:r>
          </a:p>
          <a:p>
            <a:pPr>
              <a:spcAft>
                <a:spcPts val="1000"/>
              </a:spcAft>
              <a:defRPr sz="2200" b="0">
                <a:solidFill>
                  <a:srgbClr val="211A30"/>
                </a:solidFill>
                <a:latin typeface="Aptos"/>
              </a:defRPr>
            </a:pPr>
            <a:r>
              <a:t>Aktivasi berhasil, pemakaian berulang, dan waktu admin.</a:t>
            </a:r>
          </a:p>
          <a:p>
            <a:pPr>
              <a:spcAft>
                <a:spcPts val="1000"/>
              </a:spcAft>
              <a:defRPr sz="2200" b="0">
                <a:solidFill>
                  <a:srgbClr val="211A30"/>
                </a:solidFill>
                <a:latin typeface="Aptos"/>
              </a:defRPr>
            </a:pPr>
            <a:r>
              <a:t>Biaya per akun, kesediaan membayar, serta alasan berhenti.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7086600"/>
            <a:ext cx="1298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70667D"/>
                </a:solidFill>
                <a:latin typeface="Aptos"/>
              </a:defRPr>
            </a:pPr>
            <a:r>
              <a:t>Keputusan: lanjutkan jika manfaat, keandalan, dan margin terbukti; revisi harga atau sasaran jika belum.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