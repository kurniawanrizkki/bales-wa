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914400" cy="320040"/>
          </a:xfrm>
          <a:prstGeom prst="roundRect">
            <a:avLst/>
          </a:prstGeom>
          <a:solidFill>
            <a:srgbClr val="6D45D7"/>
          </a:solidFill>
          <a:ln w="8255">
            <a:solidFill>
              <a:srgbClr val="6D4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731520" cy="13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BALASWA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89611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91520"/>
                </a:solidFill>
                <a:latin typeface="Aptos"/>
              </a:rPr>
              <a:t>Business Model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191520"/>
                </a:solidFill>
                <a:latin typeface="Aptos"/>
              </a:rPr>
              <a:t>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98064"/>
            <a:ext cx="7040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8606F"/>
                </a:solidFill>
                <a:latin typeface="Aptos"/>
              </a:rPr>
              <a:t>SaaS balasan WhatsApp berbantuan AI untuk UMKM Indonesia.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401568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45D7"/>
                </a:solidFill>
                <a:latin typeface="Aptos"/>
              </a:rPr>
              <a:t>Model: trial 7 hari → langganan bulanan.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960120"/>
            <a:ext cx="2487168" cy="1097280"/>
          </a:xfrm>
          <a:prstGeom prst="roundRect">
            <a:avLst/>
          </a:prstGeom>
          <a:solidFill>
            <a:srgbClr val="6D45D7"/>
          </a:solidFill>
          <a:ln w="8255">
            <a:solidFill>
              <a:srgbClr val="6D4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36608" y="2267712"/>
            <a:ext cx="1874519" cy="822960"/>
          </a:xfrm>
          <a:prstGeom prst="roundRect">
            <a:avLst/>
          </a:prstGeom>
          <a:solidFill>
            <a:srgbClr val="EBE2FA"/>
          </a:solidFill>
          <a:ln w="8255">
            <a:solidFill>
              <a:srgbClr val="EB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5008" y="3291840"/>
            <a:ext cx="2331720" cy="10058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74352" y="4590288"/>
            <a:ext cx="1645920" cy="640080"/>
          </a:xfrm>
          <a:prstGeom prst="roundRect">
            <a:avLst/>
          </a:prstGeom>
          <a:solidFill>
            <a:srgbClr val="EBE2FA"/>
          </a:solidFill>
          <a:ln w="8255">
            <a:solidFill>
              <a:srgbClr val="EB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1280160"/>
            <a:ext cx="1920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CHAT MASUK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8632" y="2532888"/>
            <a:ext cx="1463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45D7"/>
                </a:solidFill>
                <a:latin typeface="Aptos"/>
              </a:rPr>
              <a:t>AI MENJAWAB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657600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91520"/>
                </a:solidFill>
                <a:latin typeface="Aptos"/>
              </a:rPr>
              <a:t>UMKM TETAP MELAYANI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8606F"/>
                </a:solidFill>
                <a:latin typeface="Aptos"/>
              </a:rPr>
              <a:t>BALASWA  •  DRAFT STRATEGI UMKM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9672"/>
            <a:ext cx="54864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68606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MODEL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1520"/>
                </a:solidFill>
                <a:latin typeface="Aptos"/>
              </a:rPr>
              <a:t>Business Model Canvas — BalasWA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606F"/>
                </a:solidFill>
                <a:latin typeface="Aptos"/>
              </a:rPr>
              <a:t>Asumsi awal. Validasi dengan 10–15 UMKM pada fase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8606F"/>
                </a:solidFill>
                <a:latin typeface="Aptos"/>
              </a:rPr>
              <a:t>BALASWA  •  DRAFT STRATEGI UMKM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4864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68606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2157984" cy="36301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MITRA KUNCI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84832"/>
            <a:ext cx="1920239" cy="3063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Penyedia AI / 9Router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Komunitas pengembang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Hosting &amp; pembayaran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Komunitas UMKM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Reseller / agensi digital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27632"/>
            <a:ext cx="2157984" cy="17830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1755648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AKTIVITAS KUNCI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084832"/>
            <a:ext cx="1920239" cy="1216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Menjaga sesi WhatsApp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Balas chat relevan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Sinkron profil &amp; katalog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Dukungan onboarding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Kontrol biaya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474720"/>
            <a:ext cx="2157984" cy="17830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1" y="3602736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SUMBER DAYA KUNCI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3931920"/>
            <a:ext cx="1920239" cy="1216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Platform multi-tenant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Mesin aturan balasan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Integrasi AI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Data profil &amp; stok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Dukungan pelanggan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627632"/>
            <a:ext cx="2157984" cy="3630168"/>
          </a:xfrm>
          <a:prstGeom prst="roundRect">
            <a:avLst/>
          </a:prstGeom>
          <a:solidFill>
            <a:srgbClr val="F4F0FB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3" y="1755648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NILAI YANG DITAWARKAN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2084832"/>
            <a:ext cx="1920239" cy="3063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Balas pelanggan lebih cepat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Jawaban berdasar katalog &amp; stok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Pemilik tetap pegang nomor WA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Tanpa teknis: scan QR, isi profil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Hemat waktu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2903" y="1627632"/>
            <a:ext cx="2157984" cy="17830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5" y="1755648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HUBUNGAN PELANGGAN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2084832"/>
            <a:ext cx="1920239" cy="1216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Coba sendiri via trial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Onboarding checklist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Pusat bantuan singkat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Dukungan chat untuk masalah akun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Upgrade mandiri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2903" y="3474720"/>
            <a:ext cx="2157984" cy="17830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3602736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SALURAN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3931920"/>
            <a:ext cx="1920239" cy="1216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Landing page BalasWA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Konten edukasi UMKM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Komunitas / webinar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Mitra agensi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Rekomendasi pengguna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54895" y="1627632"/>
            <a:ext cx="2157984" cy="3630168"/>
          </a:xfrm>
          <a:prstGeom prst="roundRect">
            <a:avLst/>
          </a:prstGeom>
          <a:solidFill>
            <a:srgbClr val="F4F0FB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7" y="1755648"/>
            <a:ext cx="1920239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SEGMEN PELANGGAN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2084832"/>
            <a:ext cx="1920239" cy="3063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UMKM yang jualan via WhatsApp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Toko fashion, kuliner, jasa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Admin terbatas / owner-operated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Pelanggan butuh respons di luar jam sibuk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91520"/>
                </a:solidFill>
                <a:latin typeface="Aptos"/>
              </a:rPr>
              <a:t>• Tahap awal: usaha dengan katalog sederhana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21807"/>
            <a:ext cx="5605272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8" y="5321807"/>
            <a:ext cx="5385816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E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468112"/>
            <a:ext cx="52120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STRUKTUR BIAYA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715000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91520"/>
                </a:solidFill>
                <a:latin typeface="Aptos"/>
              </a:rPr>
              <a:t>AI per balasan • server/Chrome • pengembangan • dukungan • akuisisi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5468112"/>
            <a:ext cx="4846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ARUS PENDAPATAN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5715000"/>
            <a:ext cx="4846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91520"/>
                </a:solidFill>
                <a:latin typeface="Aptos"/>
              </a:rPr>
              <a:t>Starter Rp99rb/bulan • Tumbuh Rp199rb/bulan • add-on kuota (usulan)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45D7"/>
                </a:solidFill>
                <a:latin typeface="Aptos"/>
              </a:rPr>
              <a:t>EKONOMI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1520"/>
                </a:solidFill>
                <a:latin typeface="Aptos"/>
              </a:rPr>
              <a:t>Harga, batas pakai, dan hipotesis yang perlu diuji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606F"/>
                </a:solidFill>
                <a:latin typeface="Aptos"/>
              </a:rPr>
              <a:t>Harga final mengikuti biaya AI aktual dan tingkat penggunaan pelanggan.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457200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8606F"/>
                </a:solidFill>
                <a:latin typeface="Aptos"/>
              </a:rPr>
              <a:t>BALASWA  •  DRAFT STRATEGI UMKM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9672"/>
            <a:ext cx="54864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68606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880360" cy="1874519"/>
          </a:xfrm>
          <a:prstGeom prst="roundRect">
            <a:avLst/>
          </a:prstGeom>
          <a:solidFill>
            <a:srgbClr val="EBE2FA"/>
          </a:solidFill>
          <a:ln w="8255">
            <a:solidFill>
              <a:srgbClr val="EB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11680"/>
            <a:ext cx="2468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1520"/>
                </a:solidFill>
                <a:latin typeface="Aptos"/>
              </a:rPr>
              <a:t>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91520"/>
                </a:solidFill>
                <a:latin typeface="Aptos"/>
              </a:rPr>
              <a:t>Rp0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63240"/>
            <a:ext cx="2468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606F"/>
                </a:solidFill>
                <a:latin typeface="Aptos"/>
              </a:rPr>
              <a:t>7 hari • 100 balasan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1783080"/>
            <a:ext cx="2880360" cy="1874519"/>
          </a:xfrm>
          <a:prstGeom prst="roundRect">
            <a:avLst/>
          </a:prstGeom>
          <a:solidFill>
            <a:srgbClr val="6D45D7"/>
          </a:solidFill>
          <a:ln w="8255">
            <a:solidFill>
              <a:srgbClr val="6D4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011680"/>
            <a:ext cx="2468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2395728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Rp99.000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3063240"/>
            <a:ext cx="2468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3.000 balasan / bulan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783080"/>
            <a:ext cx="2880360" cy="1874519"/>
          </a:xfrm>
          <a:prstGeom prst="roundRect">
            <a:avLst/>
          </a:prstGeom>
          <a:solidFill>
            <a:srgbClr val="EBE2FA"/>
          </a:solidFill>
          <a:ln w="8255">
            <a:solidFill>
              <a:srgbClr val="EB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011680"/>
            <a:ext cx="2468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1520"/>
                </a:solidFill>
                <a:latin typeface="Aptos"/>
              </a:rPr>
              <a:t>TUMBUH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395728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91520"/>
                </a:solidFill>
                <a:latin typeface="Aptos"/>
              </a:rPr>
              <a:t>Rp199.000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3063240"/>
            <a:ext cx="2468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8606F"/>
                </a:solidFill>
                <a:latin typeface="Aptos"/>
              </a:rPr>
              <a:t>10.000 balasan / bulan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60520"/>
            <a:ext cx="4937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45D7"/>
                </a:solidFill>
                <a:latin typeface="Aptos"/>
              </a:rPr>
              <a:t>METRIK UTAMA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98848"/>
            <a:ext cx="14173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1520"/>
                </a:solidFill>
                <a:latin typeface="Aptos"/>
              </a:rPr>
              <a:t>Aktivasi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498848"/>
            <a:ext cx="3474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606F"/>
                </a:solidFill>
                <a:latin typeface="Aptos"/>
              </a:rPr>
              <a:t>Profil + 1 produk + WA tersambung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10328"/>
            <a:ext cx="14173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1520"/>
                </a:solidFill>
                <a:latin typeface="Aptos"/>
              </a:rPr>
              <a:t>Nilai awal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10328"/>
            <a:ext cx="3474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606F"/>
                </a:solidFill>
                <a:latin typeface="Aptos"/>
              </a:rPr>
              <a:t>Balasan pertama terkirim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21808"/>
            <a:ext cx="14173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1520"/>
                </a:solidFill>
                <a:latin typeface="Aptos"/>
              </a:rPr>
              <a:t>Retensi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21808"/>
            <a:ext cx="3474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606F"/>
                </a:solidFill>
                <a:latin typeface="Aptos"/>
              </a:rPr>
              <a:t>Usaha masih aktif minggu ke-4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33288"/>
            <a:ext cx="14173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1520"/>
                </a:solidFill>
                <a:latin typeface="Aptos"/>
              </a:rPr>
              <a:t>Beban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733288"/>
            <a:ext cx="3474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606F"/>
                </a:solidFill>
                <a:latin typeface="Aptos"/>
              </a:rPr>
              <a:t>Biaya AI ÷ pendapatan pelanggan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96512"/>
            <a:ext cx="5157216" cy="1755648"/>
          </a:xfrm>
          <a:prstGeom prst="roundRect">
            <a:avLst/>
          </a:prstGeom>
          <a:solidFill>
            <a:srgbClr val="FFF3DA"/>
          </a:solidFill>
          <a:ln w="8255">
            <a:solidFill>
              <a:srgbClr val="FFF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4370832"/>
            <a:ext cx="46634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1520"/>
                </a:solidFill>
                <a:latin typeface="Aptos"/>
              </a:rPr>
              <a:t>PILOT 30 HARI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709160"/>
            <a:ext cx="4572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91520"/>
                </a:solidFill>
                <a:latin typeface="Aptos"/>
              </a:rPr>
              <a:t>Rekrut 10–15 UMKM. Ukur: waktu respons sebelum/sesudah, persentase chat relevan, biaya AI per akun, serta kemauan membayar setelah trial.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80760"/>
            <a:ext cx="10881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8606F"/>
                </a:solidFill>
                <a:latin typeface="Aptos"/>
              </a:rPr>
              <a:t>Risiko: whatsapp-web.js bukan API resmi; sesi dapat terputus atau akun dibatasi. Mitra dan harga masih rencana.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